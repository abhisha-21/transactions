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ukta Bold" panose="020B0604020202020204" charset="0"/>
      <p:regular r:id="rId17"/>
    </p:embeddedFont>
    <p:embeddedFont>
      <p:font typeface="Mukta Light" panose="020B0604020202020204" charset="0"/>
      <p:regular r:id="rId18"/>
    </p:embeddedFont>
    <p:embeddedFont>
      <p:font typeface="Prompt Medium" panose="00000600000000000000" pitchFamily="2" charset="-3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37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6.pn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573510"/>
            <a:ext cx="6151409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AI Risk Manager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34200" y="2470845"/>
            <a:ext cx="6151409" cy="160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Credit Card Fraud Detection</a:t>
            </a:r>
            <a:endParaRPr lang="en-US" sz="5050" dirty="0"/>
          </a:p>
        </p:txBody>
      </p:sp>
      <p:sp>
        <p:nvSpPr>
          <p:cNvPr id="5" name="Text 2"/>
          <p:cNvSpPr/>
          <p:nvPr/>
        </p:nvSpPr>
        <p:spPr>
          <a:xfrm>
            <a:off x="734200" y="4394002"/>
            <a:ext cx="676099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Production-Ready ML System for the Indian BFSI Sector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34200" y="4965700"/>
            <a:ext cx="1864472" cy="318790"/>
          </a:xfrm>
          <a:prstGeom prst="roundRect">
            <a:avLst>
              <a:gd name="adj" fmla="val 22113"/>
            </a:avLst>
          </a:prstGeom>
          <a:solidFill>
            <a:srgbClr val="321A2C"/>
          </a:solidFill>
          <a:ln/>
        </p:spPr>
      </p:sp>
      <p:sp>
        <p:nvSpPr>
          <p:cNvPr id="7" name="Text 4"/>
          <p:cNvSpPr/>
          <p:nvPr/>
        </p:nvSpPr>
        <p:spPr>
          <a:xfrm>
            <a:off x="860007" y="5028605"/>
            <a:ext cx="222244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ABHISHA CHAKRABARTI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03544" y="4965700"/>
            <a:ext cx="1200120" cy="318790"/>
          </a:xfrm>
          <a:prstGeom prst="roundRect">
            <a:avLst>
              <a:gd name="adj" fmla="val 22113"/>
            </a:avLst>
          </a:prstGeom>
          <a:noFill/>
          <a:ln w="6350">
            <a:solidFill>
              <a:srgbClr val="A95B9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29350" y="5028605"/>
            <a:ext cx="1558092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A95B95"/>
                </a:solidFill>
                <a:ea typeface="Mukta Light" pitchFamily="34" charset="-122"/>
                <a:cs typeface="Mukta Light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627162"/>
            <a:ext cx="6151409" cy="29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The Problem: Fraud Is Exploding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382583" y="1047254"/>
            <a:ext cx="3998416" cy="3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₹2,000Cr+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306086" y="1482923"/>
            <a:ext cx="615140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Lost Annually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306086" y="1659037"/>
            <a:ext cx="61514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Indian credit card fraud losses every year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382583" y="1940123"/>
            <a:ext cx="3998416" cy="3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0.5–1%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306086" y="2375793"/>
            <a:ext cx="615140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Fraudulent Transactions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6086" y="2551906"/>
            <a:ext cx="61514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Of all credit card transactions in India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382583" y="2832993"/>
            <a:ext cx="3998416" cy="3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₹50,000+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306086" y="3268663"/>
            <a:ext cx="615140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Average Victim Loss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06086" y="3444776"/>
            <a:ext cx="61514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Per fraud incident on average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382583" y="3725863"/>
            <a:ext cx="3998416" cy="3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7–15 Days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5306086" y="4161532"/>
            <a:ext cx="615140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Avg Response Time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06086" y="4337645"/>
            <a:ext cx="61514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Legacy systems take days to flag fraud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086" y="4521101"/>
            <a:ext cx="6151409" cy="53528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73960" y="4638179"/>
            <a:ext cx="586645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Only 30–40% Caught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73960" y="4814292"/>
            <a:ext cx="58664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Current systems miss the majority of fraudulent transactions</a:t>
            </a:r>
            <a:endParaRPr lang="en-US" sz="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086" y="5108277"/>
            <a:ext cx="6151409" cy="535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73960" y="5225355"/>
            <a:ext cx="586645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Too Many False Positives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473960" y="5401469"/>
            <a:ext cx="58664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Legitimate customers blocked, causing frustration and churn</a:t>
            </a:r>
            <a:endParaRPr lang="en-US" sz="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086" y="5695454"/>
            <a:ext cx="6151409" cy="5352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73960" y="5812532"/>
            <a:ext cx="586645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Rules-Based Systems Are Static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473960" y="5988645"/>
            <a:ext cx="58664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Fraudsters evolve faster than hardcoded rule engines</a:t>
            </a: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D8D5507-4569-43DF-0600-15FA7F979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1763" y="6583726"/>
            <a:ext cx="1120237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65163"/>
            <a:ext cx="107232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Our Solution: AI Risk Manager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4200" y="1399778"/>
            <a:ext cx="113328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A three-stage ML pipeline that transforms raw transaction data into real-time fraud decisions — in milliseconds.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30" y="1792486"/>
            <a:ext cx="8578635" cy="3765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61819" y="4331515"/>
            <a:ext cx="1503740" cy="413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61819" y="4810740"/>
            <a:ext cx="1503740" cy="33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42 patterns: timing, location, amount, device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483859" y="4273677"/>
            <a:ext cx="1503740" cy="413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Real-Time Prediction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83859" y="4752903"/>
            <a:ext cx="1503740" cy="33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Instant score → APPROVE or DECLINE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85232" y="2187391"/>
            <a:ext cx="1503741" cy="206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85232" y="2460054"/>
            <a:ext cx="1503741" cy="50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XGBoost trained on 284,000 Indian transactions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4200" y="5709345"/>
            <a:ext cx="10723294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The system ingests 42 engineered features per transaction, applies a trained XGBoost model, and returns an approve or decline decision in under 50 milliseconds — enabling real-time fraud prevention at scale.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F8B269-6AA9-4E57-5BA6-3020DD6BD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763" y="6591277"/>
            <a:ext cx="1120237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84423"/>
            <a:ext cx="10723294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Results: By the Numbers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1754882"/>
            <a:ext cx="4618220" cy="33242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32478" y="1754882"/>
            <a:ext cx="2480704" cy="1396305"/>
          </a:xfrm>
          <a:prstGeom prst="roundRect">
            <a:avLst>
              <a:gd name="adj" fmla="val 568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7637" y="1950045"/>
            <a:ext cx="209038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Precision: 10.82%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27637" y="2382143"/>
            <a:ext cx="2090388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Reliable fraud flag rate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983041" y="1754882"/>
            <a:ext cx="2480804" cy="1396305"/>
          </a:xfrm>
          <a:prstGeom prst="roundRect">
            <a:avLst>
              <a:gd name="adj" fmla="val 568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78199" y="1950045"/>
            <a:ext cx="2090487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Recall: 54.21%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78199" y="2382143"/>
            <a:ext cx="209048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Over half of all fraudsters caught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32478" y="3321050"/>
            <a:ext cx="2480704" cy="1396305"/>
          </a:xfrm>
          <a:prstGeom prst="roundRect">
            <a:avLst>
              <a:gd name="adj" fmla="val 568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7637" y="3516213"/>
            <a:ext cx="209038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ROC-AUC: 0.692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527637" y="3948311"/>
            <a:ext cx="209038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Strong discriminative power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983041" y="3321050"/>
            <a:ext cx="2480804" cy="1396305"/>
          </a:xfrm>
          <a:prstGeom prst="roundRect">
            <a:avLst>
              <a:gd name="adj" fmla="val 568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78199" y="3516213"/>
            <a:ext cx="2090487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Inference: &lt;50ms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178199" y="3948311"/>
            <a:ext cx="209048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Per transaction at production scale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332478" y="4908451"/>
            <a:ext cx="5131366" cy="973931"/>
          </a:xfrm>
          <a:prstGeom prst="roundRect">
            <a:avLst>
              <a:gd name="adj" fmla="val 8143"/>
            </a:avLst>
          </a:prstGeom>
          <a:solidFill>
            <a:srgbClr val="542C49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287" y="5156994"/>
            <a:ext cx="235936" cy="18881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6032" y="5108476"/>
            <a:ext cx="4329004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ea typeface="Mukta Bold" pitchFamily="34" charset="-122"/>
                <a:cs typeface="Mukta Bold" pitchFamily="34" charset="-120"/>
              </a:rPr>
              <a:t>Net Annual Profit: ₹2,61,94,250</a:t>
            </a:r>
            <a:r>
              <a:rPr lang="en-US" sz="1450" dirty="0">
                <a:solidFill>
                  <a:srgbClr val="FFFFFF"/>
                </a:solidFill>
                <a:ea typeface="Mukta Light" pitchFamily="34" charset="-122"/>
                <a:cs typeface="Mukta Light" pitchFamily="34" charset="-120"/>
              </a:rPr>
              <a:t> — after accounting for false positive costs on a 50MB Dockerized system.</a:t>
            </a:r>
            <a:endParaRPr lang="en-US" sz="1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FC8DED9-2741-0BFA-F236-A8700B4AF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1763" y="6550917"/>
            <a:ext cx="1120237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818059"/>
            <a:ext cx="6151409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For Companies Like PayPal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1380133"/>
            <a:ext cx="367100" cy="3671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4200" y="1875730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Revenue Protection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734200" y="2141339"/>
            <a:ext cx="61514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Prevent ₹100+ Crores annually. Projected ROI of </a:t>
            </a:r>
            <a:r>
              <a:rPr lang="en-US" sz="115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300%+</a:t>
            </a: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over legacy rule engines.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2546548"/>
            <a:ext cx="367100" cy="3671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4200" y="3042146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Customer Experience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734200" y="3307755"/>
            <a:ext cx="6151409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54% fraud catch rate with low false positives — more legitimate transactions approved, fewer customers blocked.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3912592"/>
            <a:ext cx="367100" cy="36710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4200" y="4408190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Real-Time Processing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734200" y="4673798"/>
            <a:ext cx="61514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&lt;50ms inference scales to millions of transactions per day with zero added latency.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5079008"/>
            <a:ext cx="367100" cy="36710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4200" y="5574605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Adaptable ML System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734200" y="5840214"/>
            <a:ext cx="61514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Model retrains on new fraud patterns automatically. Rules-based systems simply cannot keep up.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10902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Technical Architecture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1603970"/>
            <a:ext cx="4372461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679" y="2208510"/>
            <a:ext cx="51441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Key Engineering Decisions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19679" y="2607667"/>
            <a:ext cx="5144165" cy="2862858"/>
          </a:xfrm>
          <a:prstGeom prst="rect">
            <a:avLst/>
          </a:prstGeom>
          <a:noFill/>
          <a:ln/>
        </p:spPr>
        <p:txBody>
          <a:bodyPr wrap="square" lIns="0" tIns="71332" rIns="0" bIns="0" rtlCol="0" anchor="t">
            <a:normAutofit/>
          </a:bodyPr>
          <a:lstStyle/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28 PCA components</a:t>
            </a:r>
            <a:r>
              <a:rPr lang="en-US" sz="14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for dimensionality reduction, preserving variance while compressing input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14 domain features</a:t>
            </a:r>
            <a:r>
              <a:rPr lang="en-US" sz="14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capturing velocity, time-of-day, location anomalies, and device signals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XGBoost</a:t>
            </a:r>
            <a:r>
              <a:rPr lang="en-US" sz="14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with </a:t>
            </a:r>
            <a:r>
              <a:rPr lang="en-US" sz="1400" dirty="0">
                <a:solidFill>
                  <a:srgbClr val="DAD8E9"/>
                </a:solidFill>
                <a:highlight>
                  <a:srgbClr val="181930"/>
                </a:highlight>
                <a:ea typeface="Consolas" pitchFamily="34" charset="-122"/>
                <a:cs typeface="Consolas" pitchFamily="34" charset="-120"/>
              </a:rPr>
              <a:t>scale_pos_weight</a:t>
            </a:r>
            <a:r>
              <a:rPr lang="en-US" sz="14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to handle severe class imbalance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4 REST endpoints</a:t>
            </a:r>
            <a:r>
              <a:rPr lang="en-US" sz="14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designed for health checks, metadata, single and batch predictions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Docker container</a:t>
            </a:r>
            <a:r>
              <a:rPr lang="en-US" sz="14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at just 50MB — deployable to any cloud or on-premise environment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9B05E-9B7E-E1BD-69B9-B34B97D68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763" y="6591277"/>
            <a:ext cx="1120237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49883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What Broke at 2 AM: Production Debugging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327547"/>
            <a:ext cx="3520292" cy="12692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288" y="1493441"/>
            <a:ext cx="311231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💥</a:t>
            </a: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 The Crash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76288" y="1806575"/>
            <a:ext cx="3112315" cy="6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ea typeface="Consolas" pitchFamily="34" charset="-122"/>
                <a:cs typeface="Consolas" pitchFamily="34" charset="-120"/>
              </a:rPr>
              <a:t>ValueError: numpy.dtype size changed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Docker build succeeded </a:t>
            </a:r>
            <a:r>
              <a:rPr lang="en-US" sz="11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— API crashed on startup </a:t>
            </a:r>
            <a:r>
              <a:rPr lang="en-US" sz="11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💥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2699544"/>
            <a:ext cx="3520292" cy="14434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6288" y="2865438"/>
            <a:ext cx="311231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 Root Cause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76288" y="3178572"/>
            <a:ext cx="3112315" cy="79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Local: NumPy 2.4.6 / Pandas 3.0.3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Docker: NumPy 1.26.4 / Pandas 2.0.3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→ Model pickled with a different NumPy binary structure → Deserialization failed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4245769"/>
            <a:ext cx="3520292" cy="12628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6288" y="4411663"/>
            <a:ext cx="311231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 The Fix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76288" y="4724797"/>
            <a:ext cx="311231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Pin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ea typeface="Consolas" pitchFamily="34" charset="-122"/>
                <a:cs typeface="Consolas" pitchFamily="34" charset="-120"/>
              </a:rPr>
              <a:t>requirements.txt</a:t>
            </a: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to exact local versions. Rebuild Docker with NumPy 2.4.6 and Pandas 3.0.3. API restored </a:t>
            </a:r>
            <a:r>
              <a:rPr lang="en-US" sz="11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5703" y="2060575"/>
            <a:ext cx="4791253" cy="271502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34200" y="5739805"/>
            <a:ext cx="10723294" cy="468313"/>
          </a:xfrm>
          <a:prstGeom prst="roundRect">
            <a:avLst>
              <a:gd name="adj" fmla="val 13171"/>
            </a:avLst>
          </a:prstGeom>
          <a:solidFill>
            <a:srgbClr val="4B3F0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040" y="5884168"/>
            <a:ext cx="183550" cy="1468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11431" y="5879306"/>
            <a:ext cx="1070880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ea typeface="Mukta Bold" pitchFamily="34" charset="-122"/>
                <a:cs typeface="Mukta Bold" pitchFamily="34" charset="-120"/>
              </a:rPr>
              <a:t>Key Takeaway:</a:t>
            </a:r>
            <a:r>
              <a:rPr lang="en-US" sz="1150" dirty="0">
                <a:solidFill>
                  <a:srgbClr val="FFFFFF"/>
                </a:solidFill>
                <a:ea typeface="Mukta Light" pitchFamily="34" charset="-122"/>
                <a:cs typeface="Mukta Light" pitchFamily="34" charset="-120"/>
              </a:rPr>
              <a:t> Always pin dependency versions explicitly. Environment parity between local and production is non-negotiable in ML deployments.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9F6965-A8B6-FA20-C666-97ACBB5654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10994290" y="6566818"/>
            <a:ext cx="1120237" cy="225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11957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Skills &amp; Mindset: What I Learned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2214265"/>
            <a:ext cx="419586" cy="4195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6015" y="2286298"/>
            <a:ext cx="454866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Data &amp; Feature Engineering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16015" y="2703513"/>
            <a:ext cx="4548669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Synthesised 42 features from raw transaction logs; applied PCA for dimensionality reduction; maintained fraud distribution via stratified splits.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6912" y="2214265"/>
            <a:ext cx="419586" cy="4195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8726" y="2286298"/>
            <a:ext cx="45487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ML Modelling &amp; Tuning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908726" y="2703513"/>
            <a:ext cx="4548768" cy="1026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Trained XGBoost with hyperparameter tuning and </a:t>
            </a:r>
            <a:r>
              <a:rPr lang="en-US" sz="1650" dirty="0">
                <a:solidFill>
                  <a:srgbClr val="DAD8E9"/>
                </a:solidFill>
                <a:highlight>
                  <a:srgbClr val="181930"/>
                </a:highlight>
                <a:ea typeface="Consolas" pitchFamily="34" charset="-122"/>
                <a:cs typeface="Consolas" pitchFamily="34" charset="-120"/>
              </a:rPr>
              <a:t>scale_pos_weight</a:t>
            </a:r>
            <a:r>
              <a:rPr lang="en-US" sz="16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for class imbalance; translated model metrics into business ROI.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4149427"/>
            <a:ext cx="419586" cy="4195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6015" y="4221460"/>
            <a:ext cx="454866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Production Engineering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16015" y="4638675"/>
            <a:ext cx="4548669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Built Flask REST API with 4 endpoints; containerised with Docker; implemented error handling, logging, and Git workflow discipline.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6912" y="4149427"/>
            <a:ext cx="419586" cy="4195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08726" y="4221460"/>
            <a:ext cx="45487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Production Debugging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08726" y="4638675"/>
            <a:ext cx="4548768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Diagnosed and resolved NumPy/Pandas version mismatch in Docker — a critical lesson in environment management for ML systems.</a:t>
            </a:r>
            <a:endParaRPr lang="en-US" sz="16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58AE91-96A5-1FF0-73FC-AD348DF123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4289" y="6591277"/>
            <a:ext cx="1120237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7339"/>
            <a:ext cx="10723294" cy="430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Metrics Summary: Everything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95477" y="1353641"/>
            <a:ext cx="3967659" cy="5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284K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4200" y="2027932"/>
            <a:ext cx="5290211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4200" y="2311598"/>
            <a:ext cx="5290211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Indian dataset with 42 engineered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28560" y="1353641"/>
            <a:ext cx="3967659" cy="5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54.21%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167283" y="2027932"/>
            <a:ext cx="5290211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Recall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67283" y="2311598"/>
            <a:ext cx="5290211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Fraudsters caught across all test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95477" y="2832993"/>
            <a:ext cx="3967659" cy="5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₹2.61Cr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4200" y="3507284"/>
            <a:ext cx="5290211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Net Profit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4200" y="3790950"/>
            <a:ext cx="5290211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Annual profit after false positive costs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28560" y="2832993"/>
            <a:ext cx="3967659" cy="5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&lt;50ms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67283" y="3507284"/>
            <a:ext cx="5290211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7283" y="3790950"/>
            <a:ext cx="5290211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Per transaction at production scale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4200" y="4263430"/>
            <a:ext cx="2529221" cy="867172"/>
          </a:xfrm>
          <a:prstGeom prst="roundRect">
            <a:avLst>
              <a:gd name="adj" fmla="val 7502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427" y="4424660"/>
            <a:ext cx="2206768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5427" y="4754066"/>
            <a:ext cx="2206768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10.82%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77719" y="4263430"/>
            <a:ext cx="2529221" cy="867172"/>
          </a:xfrm>
          <a:prstGeom prst="roundRect">
            <a:avLst>
              <a:gd name="adj" fmla="val 7502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945" y="4424660"/>
            <a:ext cx="2206768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ROC-AUC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38945" y="4754066"/>
            <a:ext cx="2206768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0.692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4200" y="5244902"/>
            <a:ext cx="5172739" cy="867172"/>
          </a:xfrm>
          <a:prstGeom prst="roundRect">
            <a:avLst>
              <a:gd name="adj" fmla="val 7502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5427" y="5406132"/>
            <a:ext cx="4850286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Package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5427" y="5735538"/>
            <a:ext cx="4850286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50 MB Docker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1105" y="4249142"/>
            <a:ext cx="5172739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Full Repository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91105" y="4578548"/>
            <a:ext cx="5172739" cy="755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Complete source code, data pipeline, trained models, Docker setup, and deployment guides available at: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120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 github.com/abhisha-21/Transactions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91105" y="5462290"/>
            <a:ext cx="787579" cy="235347"/>
          </a:xfrm>
          <a:prstGeom prst="roundRect">
            <a:avLst>
              <a:gd name="adj" fmla="val 22113"/>
            </a:avLst>
          </a:prstGeom>
          <a:solidFill>
            <a:srgbClr val="321A2C"/>
          </a:solidFill>
          <a:ln/>
        </p:spPr>
      </p:sp>
      <p:sp>
        <p:nvSpPr>
          <p:cNvPr id="27" name="Text 25"/>
          <p:cNvSpPr/>
          <p:nvPr/>
        </p:nvSpPr>
        <p:spPr>
          <a:xfrm>
            <a:off x="6383972" y="5508724"/>
            <a:ext cx="1211431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DOCKER </a:t>
            </a:r>
            <a:r>
              <a:rPr lang="en-US" sz="9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56073" y="5462290"/>
            <a:ext cx="894335" cy="235347"/>
          </a:xfrm>
          <a:prstGeom prst="roundRect">
            <a:avLst>
              <a:gd name="adj" fmla="val 22113"/>
            </a:avLst>
          </a:prstGeom>
          <a:solidFill>
            <a:srgbClr val="321A2C"/>
          </a:solidFill>
          <a:ln/>
        </p:spPr>
      </p:sp>
      <p:sp>
        <p:nvSpPr>
          <p:cNvPr id="29" name="Text 27"/>
          <p:cNvSpPr/>
          <p:nvPr/>
        </p:nvSpPr>
        <p:spPr>
          <a:xfrm>
            <a:off x="7248939" y="5508724"/>
            <a:ext cx="1318187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API READY </a:t>
            </a:r>
            <a:r>
              <a:rPr lang="en-US" sz="9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27797" y="5462290"/>
            <a:ext cx="1416511" cy="235347"/>
          </a:xfrm>
          <a:prstGeom prst="roundRect">
            <a:avLst>
              <a:gd name="adj" fmla="val 22113"/>
            </a:avLst>
          </a:prstGeom>
          <a:solidFill>
            <a:srgbClr val="321A2C"/>
          </a:solidFill>
          <a:ln/>
        </p:spPr>
      </p:sp>
      <p:sp>
        <p:nvSpPr>
          <p:cNvPr id="31" name="Text 29"/>
          <p:cNvSpPr/>
          <p:nvPr/>
        </p:nvSpPr>
        <p:spPr>
          <a:xfrm>
            <a:off x="8220663" y="5508724"/>
            <a:ext cx="1840363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PRODUCTION READY </a:t>
            </a:r>
            <a:r>
              <a:rPr lang="en-US" sz="95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9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8223414-6D5E-6E52-B4F6-C4E8D8E19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374" y="6577281"/>
            <a:ext cx="1120237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739180"/>
            <a:ext cx="6151409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ea typeface="Prompt Medium" pitchFamily="34" charset="-122"/>
                <a:cs typeface="Prompt Medium" pitchFamily="34" charset="-120"/>
              </a:rPr>
              <a:t>Next Steps: Let's Connect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086" y="1301254"/>
            <a:ext cx="6151409" cy="12578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5511" y="1819970"/>
            <a:ext cx="220260" cy="22026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15284" y="1467148"/>
            <a:ext cx="527632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6015284" y="1732756"/>
            <a:ext cx="527632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Full code, trained models, documentation, and Docker deployment guides — ready to explore.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github.com/abhisha-21/Transactions</a:t>
            </a:r>
            <a:endParaRPr lang="en-US" sz="11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6086" y="2661940"/>
            <a:ext cx="6151409" cy="99665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5511" y="3050084"/>
            <a:ext cx="220260" cy="22026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015284" y="2827834"/>
            <a:ext cx="527632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Live Demo Video</a:t>
            </a:r>
            <a:endParaRPr lang="en-US" sz="1250" dirty="0"/>
          </a:p>
        </p:txBody>
      </p:sp>
      <p:sp>
        <p:nvSpPr>
          <p:cNvPr id="11" name="Text 4"/>
          <p:cNvSpPr/>
          <p:nvPr/>
        </p:nvSpPr>
        <p:spPr>
          <a:xfrm>
            <a:off x="6015284" y="3093442"/>
            <a:ext cx="5276321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5-minute walkthrough: API in production, real fraud predictions, and end-to-end deployment.</a:t>
            </a:r>
            <a:endParaRPr lang="en-US" sz="11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6086" y="3761383"/>
            <a:ext cx="6151409" cy="996652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5511" y="4149527"/>
            <a:ext cx="220260" cy="220266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015284" y="3927277"/>
            <a:ext cx="527632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Ready for Integration</a:t>
            </a:r>
            <a:endParaRPr lang="en-US" sz="1250" dirty="0"/>
          </a:p>
        </p:txBody>
      </p:sp>
      <p:sp>
        <p:nvSpPr>
          <p:cNvPr id="15" name="Text 6"/>
          <p:cNvSpPr/>
          <p:nvPr/>
        </p:nvSpPr>
        <p:spPr>
          <a:xfrm>
            <a:off x="6015284" y="4192885"/>
            <a:ext cx="5276321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Deployable into payment systems today. Customisable for specific BFSI requirements and regulatory needs.</a:t>
            </a:r>
            <a:endParaRPr lang="en-US" sz="11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086" y="4860826"/>
            <a:ext cx="6151409" cy="1257895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05511" y="5379541"/>
            <a:ext cx="220260" cy="220266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6015284" y="5026720"/>
            <a:ext cx="527632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ea typeface="Prompt Medium" pitchFamily="34" charset="-122"/>
                <a:cs typeface="Prompt Medium" pitchFamily="34" charset="-120"/>
              </a:rPr>
              <a:t>Let's Connect</a:t>
            </a:r>
            <a:endParaRPr lang="en-US" sz="1250" dirty="0"/>
          </a:p>
        </p:txBody>
      </p:sp>
      <p:sp>
        <p:nvSpPr>
          <p:cNvPr id="19" name="Text 8"/>
          <p:cNvSpPr/>
          <p:nvPr/>
        </p:nvSpPr>
        <p:spPr>
          <a:xfrm>
            <a:off x="6015284" y="5292328"/>
            <a:ext cx="527632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Open to ML and Data Engineering roles across startups and enterprises.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LinkedIn:</a:t>
            </a: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linkedin.com/in/abhisha-chakrabarti/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DAD8E9"/>
                </a:solidFill>
                <a:ea typeface="Mukta Bold" pitchFamily="34" charset="-122"/>
                <a:cs typeface="Mukta Bold" pitchFamily="34" charset="-120"/>
              </a:rPr>
              <a:t>GitHub:</a:t>
            </a:r>
            <a:r>
              <a:rPr lang="en-US" sz="1150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 github.com/abhisha-21</a:t>
            </a:r>
            <a:endParaRPr lang="en-US" sz="11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D699DA-2EAE-2143-B5D2-0737FD6B8E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71763" y="6591277"/>
            <a:ext cx="1120237" cy="266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801</Words>
  <Application>Microsoft Office PowerPoint</Application>
  <PresentationFormat>Widescreen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Twemoji Mozilla</vt:lpstr>
      <vt:lpstr>Arial</vt:lpstr>
      <vt:lpstr>Prompt Medium</vt:lpstr>
      <vt:lpstr>Mukta Light</vt:lpstr>
      <vt:lpstr>Consolas</vt:lpstr>
      <vt:lpstr>Mukta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Abhisha Chakrabarti</cp:lastModifiedBy>
  <cp:revision>4</cp:revision>
  <dcterms:created xsi:type="dcterms:W3CDTF">2026-08-25T18:57:01Z</dcterms:created>
  <dcterms:modified xsi:type="dcterms:W3CDTF">2026-08-25T19:03:34Z</dcterms:modified>
</cp:coreProperties>
</file>